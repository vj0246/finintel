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411480"/>
            <a:ext cx="1691640" cy="800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PYTHON DEVELOPERS GROUP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50876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7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Algorithms to</a:t>
            </a:r>
            <a:endParaRPr lang="en-US" sz="47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7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Capital</a:t>
            </a:r>
            <a:endParaRPr lang="en-US" sz="4700" dirty="0"/>
          </a:p>
        </p:txBody>
      </p:sp>
      <p:sp>
        <p:nvSpPr>
          <p:cNvPr id="5" name="Text 2"/>
          <p:cNvSpPr/>
          <p:nvPr/>
        </p:nvSpPr>
        <p:spPr>
          <a:xfrm>
            <a:off x="658368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agents are rewriting finance. Multi agent, human in the loop, live in Python.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" y="4069080"/>
            <a:ext cx="100584" cy="100584"/>
          </a:xfrm>
          <a:prstGeom prst="oval">
            <a:avLst/>
          </a:prstGeom>
          <a:solidFill>
            <a:srgbClr val="B45309"/>
          </a:solidFill>
          <a:ln/>
        </p:spPr>
      </p:sp>
      <p:sp>
        <p:nvSpPr>
          <p:cNvPr id="7" name="Shape 4"/>
          <p:cNvSpPr/>
          <p:nvPr/>
        </p:nvSpPr>
        <p:spPr>
          <a:xfrm>
            <a:off x="950976" y="4069080"/>
            <a:ext cx="100584" cy="100584"/>
          </a:xfrm>
          <a:prstGeom prst="oval">
            <a:avLst/>
          </a:prstGeom>
          <a:solidFill>
            <a:srgbClr val="9A3412"/>
          </a:solidFill>
          <a:ln/>
        </p:spPr>
      </p:sp>
      <p:sp>
        <p:nvSpPr>
          <p:cNvPr id="8" name="Shape 5"/>
          <p:cNvSpPr/>
          <p:nvPr/>
        </p:nvSpPr>
        <p:spPr>
          <a:xfrm>
            <a:off x="1243584" y="4069080"/>
            <a:ext cx="100584" cy="100584"/>
          </a:xfrm>
          <a:prstGeom prst="oval">
            <a:avLst/>
          </a:prstGeom>
          <a:solidFill>
            <a:srgbClr val="4D7C0F"/>
          </a:solidFill>
          <a:ln/>
        </p:spPr>
      </p:sp>
      <p:sp>
        <p:nvSpPr>
          <p:cNvPr id="9" name="Shape 6"/>
          <p:cNvSpPr/>
          <p:nvPr/>
        </p:nvSpPr>
        <p:spPr>
          <a:xfrm>
            <a:off x="1536192" y="4069080"/>
            <a:ext cx="100584" cy="100584"/>
          </a:xfrm>
          <a:prstGeom prst="oval">
            <a:avLst/>
          </a:prstGeom>
          <a:solidFill>
            <a:srgbClr val="B45309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43525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Vivaan Jain</a:t>
            </a:r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Student, DJSCE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58368" y="4736592"/>
            <a:ext cx="781812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47914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June 2026     2:00 PM     IDfy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97280"/>
            <a:ext cx="1600200" cy="1600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8163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Vivaan Jain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32278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Engineering, DJSCE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051560" y="3630168"/>
            <a:ext cx="310896" cy="310896"/>
          </a:xfrm>
          <a:prstGeom prst="oval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502" y="3714110"/>
            <a:ext cx="143012" cy="143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Mumbai, India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611880" y="1051560"/>
            <a:ext cx="4937760" cy="676656"/>
          </a:xfrm>
          <a:prstGeom prst="roundedRectangle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794760" y="1161288"/>
            <a:ext cx="457200" cy="457200"/>
          </a:xfrm>
          <a:prstGeom prst="oval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204" y="1284732"/>
            <a:ext cx="210312" cy="2103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89120" y="1124712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Dwarkadas J. Sanghvi College of Engineering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Computer Engineering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3611880" y="1801368"/>
            <a:ext cx="4937760" cy="676656"/>
          </a:xfrm>
          <a:prstGeom prst="roundedRectangle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794760" y="1911096"/>
            <a:ext cx="457200" cy="457200"/>
          </a:xfrm>
          <a:prstGeom prst="oval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204" y="2034540"/>
            <a:ext cx="210312" cy="2103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389120" y="187452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Intern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Zeex AI  and  Internovo Ventures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3611880" y="2551176"/>
            <a:ext cx="4937760" cy="676656"/>
          </a:xfrm>
          <a:prstGeom prst="roundedRectangle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3794760" y="2660904"/>
            <a:ext cx="457200" cy="457200"/>
          </a:xfrm>
          <a:prstGeom prst="oval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8204" y="2784348"/>
            <a:ext cx="210312" cy="2103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89120" y="262432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committee, DJSCE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3611880" y="3300984"/>
            <a:ext cx="4937760" cy="676656"/>
          </a:xfrm>
          <a:prstGeom prst="roundedRectangle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3794760" y="3410712"/>
            <a:ext cx="457200" cy="457200"/>
          </a:xfrm>
          <a:prstGeom prst="oval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8204" y="3534156"/>
            <a:ext cx="210312" cy="21031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389120" y="337413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Research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Researching credit scoring models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640080" y="4114800"/>
            <a:ext cx="790956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224528"/>
            <a:ext cx="822960" cy="8229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554480" y="43159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Portfolio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vivaan-jain-portfolio.vercel.app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4526280" y="4206240"/>
            <a:ext cx="274320" cy="274320"/>
          </a:xfrm>
          <a:prstGeom prst="oval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0346" y="4280306"/>
            <a:ext cx="126187" cy="126187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855464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github.com/vj0246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4526280" y="4489704"/>
            <a:ext cx="274320" cy="274320"/>
          </a:xfrm>
          <a:prstGeom prst="oval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0346" y="4563770"/>
            <a:ext cx="126187" cy="126187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4855464" y="4489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linkedin.com/in/vivaan-jain</a:t>
            </a:r>
            <a:endParaRPr lang="en-US" sz="1050" dirty="0"/>
          </a:p>
        </p:txBody>
      </p:sp>
      <p:sp>
        <p:nvSpPr>
          <p:cNvPr id="34" name="Shape 23"/>
          <p:cNvSpPr/>
          <p:nvPr/>
        </p:nvSpPr>
        <p:spPr>
          <a:xfrm>
            <a:off x="4526280" y="4773168"/>
            <a:ext cx="274320" cy="274320"/>
          </a:xfrm>
          <a:prstGeom prst="oval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0346" y="4847234"/>
            <a:ext cx="126187" cy="126187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855464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vivaan.jain246@gmail.com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FINANCE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reshaping finance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spotting patterns to supporting real decisions.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4069080" cy="2514600"/>
          </a:xfrm>
          <a:prstGeom prst="roundedRectangle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works today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606040"/>
            <a:ext cx="347472" cy="347472"/>
          </a:xfrm>
          <a:prstGeom prst="oval">
            <a:avLst/>
          </a:prstGeom>
          <a:solidFill>
            <a:srgbClr val="FAF8F4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97" y="2699857"/>
            <a:ext cx="159837" cy="1598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606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and risk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044952"/>
            <a:ext cx="347472" cy="347472"/>
          </a:xfrm>
          <a:prstGeom prst="oval">
            <a:avLst/>
          </a:prstGeom>
          <a:solidFill>
            <a:srgbClr val="FAF8F4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97" y="3138769"/>
            <a:ext cx="159837" cy="1598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0449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and anomaly detection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68680" y="3483864"/>
            <a:ext cx="347472" cy="347472"/>
          </a:xfrm>
          <a:prstGeom prst="oval">
            <a:avLst/>
          </a:prstGeom>
          <a:solidFill>
            <a:srgbClr val="FAF8F4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97" y="3577681"/>
            <a:ext cx="159837" cy="1598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4838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document analysis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68680" y="3922776"/>
            <a:ext cx="347472" cy="347472"/>
          </a:xfrm>
          <a:prstGeom prst="oval">
            <a:avLst/>
          </a:prstGeom>
          <a:solidFill>
            <a:srgbClr val="FAF8F4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97" y="4016593"/>
            <a:ext cx="159837" cy="15983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39227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and decision support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892040" y="1920240"/>
            <a:ext cx="3657600" cy="2514600"/>
          </a:xfrm>
          <a:prstGeom prst="roundedRectangle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512064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evolving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120640" y="2642616"/>
            <a:ext cx="82296" cy="42062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16"/>
          <p:cNvSpPr/>
          <p:nvPr/>
        </p:nvSpPr>
        <p:spPr>
          <a:xfrm>
            <a:off x="5321808" y="260604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and classify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120640" y="3209544"/>
            <a:ext cx="82296" cy="420624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24" name="Text 18"/>
          <p:cNvSpPr/>
          <p:nvPr/>
        </p:nvSpPr>
        <p:spPr>
          <a:xfrm>
            <a:off x="5321808" y="3172968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write, explain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120640" y="3776472"/>
            <a:ext cx="82296" cy="420624"/>
          </a:xfrm>
          <a:prstGeom prst="rect">
            <a:avLst/>
          </a:prstGeom>
          <a:solidFill>
            <a:srgbClr val="4D7C0F"/>
          </a:solidFill>
          <a:ln/>
        </p:spPr>
      </p:sp>
      <p:sp>
        <p:nvSpPr>
          <p:cNvPr id="26" name="Text 20"/>
          <p:cNvSpPr/>
          <p:nvPr/>
        </p:nvSpPr>
        <p:spPr>
          <a:xfrm>
            <a:off x="5321808" y="3739896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take steps, with a human gate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4008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 sits at the frontier: agents that act, responsibly.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AI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an LLM that can plan, use tools, and act in a loop, not just reply.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160520" cy="1783080"/>
          </a:xfrm>
          <a:prstGeom prst="roundedRectangle">
            <a:avLst>
              <a:gd name="adj" fmla="val 5128"/>
            </a:avLst>
          </a:prstGeom>
          <a:solidFill>
            <a:srgbClr val="FFFBF5"/>
          </a:solidFill>
          <a:ln w="1778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01952"/>
            <a:ext cx="384048" cy="384048"/>
          </a:xfrm>
          <a:prstGeom prst="oval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653" y="2005645"/>
            <a:ext cx="176662" cy="1766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938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1248" y="2395728"/>
            <a:ext cx="1170432" cy="1024128"/>
          </a:xfrm>
          <a:prstGeom prst="roundedRectangle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61872" y="2487168"/>
            <a:ext cx="329184" cy="329184"/>
          </a:xfrm>
          <a:prstGeom prst="oval">
            <a:avLst/>
          </a:prstGeom>
          <a:solidFill>
            <a:srgbClr val="FAF8F4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752" y="2576048"/>
            <a:ext cx="151425" cy="1514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" y="285292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86968" y="31089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139696" y="2395728"/>
            <a:ext cx="1170432" cy="1024128"/>
          </a:xfrm>
          <a:prstGeom prst="roundedRectangle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60320" y="2487168"/>
            <a:ext cx="329184" cy="329184"/>
          </a:xfrm>
          <a:prstGeom prst="oval">
            <a:avLst/>
          </a:prstGeom>
          <a:solidFill>
            <a:srgbClr val="FAF8F4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200" y="2576048"/>
            <a:ext cx="151425" cy="1514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39696" y="285292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2185416" y="31089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438144" y="2395728"/>
            <a:ext cx="1170432" cy="1024128"/>
          </a:xfrm>
          <a:prstGeom prst="roundedRectangle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858768" y="2487168"/>
            <a:ext cx="329184" cy="329184"/>
          </a:xfrm>
          <a:prstGeom prst="oval">
            <a:avLst/>
          </a:prstGeom>
          <a:solidFill>
            <a:srgbClr val="FAF8F4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648" y="2576048"/>
            <a:ext cx="151425" cy="1514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438144" y="285292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3483864" y="31089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next step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349240" y="1783080"/>
            <a:ext cx="3200400" cy="1783080"/>
          </a:xfrm>
          <a:prstGeom prst="roundedRectangle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5532120" y="1901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spc="100" kern="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the agent can call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532120" y="2395728"/>
            <a:ext cx="310896" cy="310896"/>
          </a:xfrm>
          <a:prstGeom prst="oval">
            <a:avLst/>
          </a:prstGeom>
          <a:solidFill>
            <a:srgbClr val="FAF8F4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6062" y="2479670"/>
            <a:ext cx="143012" cy="1430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897880" y="23957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013448" y="2395728"/>
            <a:ext cx="310896" cy="310896"/>
          </a:xfrm>
          <a:prstGeom prst="oval">
            <a:avLst/>
          </a:prstGeom>
          <a:solidFill>
            <a:srgbClr val="FAF8F4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7390" y="2479670"/>
            <a:ext cx="143012" cy="14301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379208" y="23957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and services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5532120" y="2944368"/>
            <a:ext cx="310896" cy="310896"/>
          </a:xfrm>
          <a:prstGeom prst="oval">
            <a:avLst/>
          </a:prstGeom>
          <a:solidFill>
            <a:srgbClr val="FAF8F4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6062" y="3028310"/>
            <a:ext cx="143012" cy="14301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897880" y="294436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7013448" y="2944368"/>
            <a:ext cx="310896" cy="310896"/>
          </a:xfrm>
          <a:prstGeom prst="oval">
            <a:avLst/>
          </a:prstGeom>
          <a:solidFill>
            <a:srgbClr val="FAF8F4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7390" y="3028310"/>
            <a:ext cx="143012" cy="14301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379208" y="294436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0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2331720"/>
            <a:ext cx="411480" cy="25603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4754880" y="21031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85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4864608" y="2880360"/>
            <a:ext cx="411480" cy="25603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4736592" y="312724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50" dirty="0"/>
          </a:p>
        </p:txBody>
      </p:sp>
      <p:sp>
        <p:nvSpPr>
          <p:cNvPr id="42" name="Text 30"/>
          <p:cNvSpPr/>
          <p:nvPr/>
        </p:nvSpPr>
        <p:spPr>
          <a:xfrm>
            <a:off x="640080" y="3776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THE LOOP</a:t>
            </a:r>
            <a:endParaRPr lang="en-US" sz="1100" dirty="0"/>
          </a:p>
        </p:txBody>
      </p:sp>
      <p:sp>
        <p:nvSpPr>
          <p:cNvPr id="43" name="Shape 31"/>
          <p:cNvSpPr/>
          <p:nvPr/>
        </p:nvSpPr>
        <p:spPr>
          <a:xfrm>
            <a:off x="640080" y="4114800"/>
            <a:ext cx="1325880" cy="621792"/>
          </a:xfrm>
          <a:prstGeom prst="roundedRectangle">
            <a:avLst>
              <a:gd name="adj" fmla="val 50000"/>
            </a:avLst>
          </a:prstGeom>
          <a:solidFill>
            <a:srgbClr val="FFFFFF"/>
          </a:solidFill>
          <a:ln w="1651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sp>
        <p:nvSpPr>
          <p:cNvPr id="44" name="Shape 32"/>
          <p:cNvSpPr/>
          <p:nvPr/>
        </p:nvSpPr>
        <p:spPr>
          <a:xfrm>
            <a:off x="786384" y="4242816"/>
            <a:ext cx="365760" cy="365760"/>
          </a:xfrm>
          <a:prstGeom prst="oval">
            <a:avLst/>
          </a:prstGeom>
          <a:solidFill>
            <a:srgbClr val="FAF8F4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5139" y="4341571"/>
            <a:ext cx="168250" cy="16825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1170432" y="411480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39112" y="4306824"/>
            <a:ext cx="237744" cy="237744"/>
          </a:xfrm>
          <a:prstGeom prst="rect">
            <a:avLst/>
          </a:prstGeom>
        </p:spPr>
      </p:pic>
      <p:sp>
        <p:nvSpPr>
          <p:cNvPr id="48" name="Shape 34"/>
          <p:cNvSpPr/>
          <p:nvPr/>
        </p:nvSpPr>
        <p:spPr>
          <a:xfrm>
            <a:off x="2350008" y="4114800"/>
            <a:ext cx="1325880" cy="621792"/>
          </a:xfrm>
          <a:prstGeom prst="roundedRectangle">
            <a:avLst>
              <a:gd name="adj" fmla="val 50000"/>
            </a:avLst>
          </a:prstGeom>
          <a:solidFill>
            <a:srgbClr val="FFFFFF"/>
          </a:solidFill>
          <a:ln w="1651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sp>
        <p:nvSpPr>
          <p:cNvPr id="49" name="Shape 35"/>
          <p:cNvSpPr/>
          <p:nvPr/>
        </p:nvSpPr>
        <p:spPr>
          <a:xfrm>
            <a:off x="2496312" y="4242816"/>
            <a:ext cx="365760" cy="365760"/>
          </a:xfrm>
          <a:prstGeom prst="oval">
            <a:avLst/>
          </a:prstGeom>
          <a:solidFill>
            <a:srgbClr val="FAF8F4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95067" y="4341571"/>
            <a:ext cx="168250" cy="168250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2880360" y="411480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300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49040" y="4306824"/>
            <a:ext cx="237744" cy="237744"/>
          </a:xfrm>
          <a:prstGeom prst="rect">
            <a:avLst/>
          </a:prstGeom>
        </p:spPr>
      </p:pic>
      <p:sp>
        <p:nvSpPr>
          <p:cNvPr id="53" name="Shape 37"/>
          <p:cNvSpPr/>
          <p:nvPr/>
        </p:nvSpPr>
        <p:spPr>
          <a:xfrm>
            <a:off x="4059936" y="4114800"/>
            <a:ext cx="1325880" cy="621792"/>
          </a:xfrm>
          <a:prstGeom prst="roundedRectangle">
            <a:avLst>
              <a:gd name="adj" fmla="val 50000"/>
            </a:avLst>
          </a:prstGeom>
          <a:solidFill>
            <a:srgbClr val="FFFFFF"/>
          </a:solidFill>
          <a:ln w="16510">
            <a:solidFill>
              <a:srgbClr val="9A3412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sp>
        <p:nvSpPr>
          <p:cNvPr id="54" name="Shape 38"/>
          <p:cNvSpPr/>
          <p:nvPr/>
        </p:nvSpPr>
        <p:spPr>
          <a:xfrm>
            <a:off x="4206240" y="4242816"/>
            <a:ext cx="365760" cy="365760"/>
          </a:xfrm>
          <a:prstGeom prst="oval">
            <a:avLst/>
          </a:prstGeom>
          <a:solidFill>
            <a:srgbClr val="FAF8F4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5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04995" y="4341571"/>
            <a:ext cx="168250" cy="168250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4590288" y="411480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58968" y="4306824"/>
            <a:ext cx="237744" cy="237744"/>
          </a:xfrm>
          <a:prstGeom prst="rect">
            <a:avLst/>
          </a:prstGeom>
        </p:spPr>
      </p:pic>
      <p:sp>
        <p:nvSpPr>
          <p:cNvPr id="58" name="Shape 40"/>
          <p:cNvSpPr/>
          <p:nvPr/>
        </p:nvSpPr>
        <p:spPr>
          <a:xfrm>
            <a:off x="5769864" y="4114800"/>
            <a:ext cx="1325880" cy="621792"/>
          </a:xfrm>
          <a:prstGeom prst="roundedRectangle">
            <a:avLst>
              <a:gd name="adj" fmla="val 50000"/>
            </a:avLst>
          </a:prstGeom>
          <a:solidFill>
            <a:srgbClr val="FFFFFF"/>
          </a:solidFill>
          <a:ln w="16510">
            <a:solidFill>
              <a:srgbClr val="4D7C0F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sp>
        <p:nvSpPr>
          <p:cNvPr id="59" name="Shape 41"/>
          <p:cNvSpPr/>
          <p:nvPr/>
        </p:nvSpPr>
        <p:spPr>
          <a:xfrm>
            <a:off x="5916168" y="4242816"/>
            <a:ext cx="365760" cy="365760"/>
          </a:xfrm>
          <a:prstGeom prst="oval">
            <a:avLst/>
          </a:prstGeom>
          <a:solidFill>
            <a:srgbClr val="FAF8F4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6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14923" y="4341571"/>
            <a:ext cx="168250" cy="168250"/>
          </a:xfrm>
          <a:prstGeom prst="rect">
            <a:avLst/>
          </a:prstGeom>
        </p:spPr>
      </p:pic>
      <p:sp>
        <p:nvSpPr>
          <p:cNvPr id="61" name="Text 42"/>
          <p:cNvSpPr/>
          <p:nvPr/>
        </p:nvSpPr>
        <p:spPr>
          <a:xfrm>
            <a:off x="6300216" y="411480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300" dirty="0"/>
          </a:p>
        </p:txBody>
      </p:sp>
      <p:pic>
        <p:nvPicPr>
          <p:cNvPr id="6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68896" y="4306824"/>
            <a:ext cx="237744" cy="237744"/>
          </a:xfrm>
          <a:prstGeom prst="rect">
            <a:avLst/>
          </a:prstGeom>
        </p:spPr>
      </p:pic>
      <p:sp>
        <p:nvSpPr>
          <p:cNvPr id="63" name="Shape 43"/>
          <p:cNvSpPr/>
          <p:nvPr/>
        </p:nvSpPr>
        <p:spPr>
          <a:xfrm>
            <a:off x="7479792" y="4114800"/>
            <a:ext cx="1325880" cy="621792"/>
          </a:xfrm>
          <a:prstGeom prst="roundedRectangle">
            <a:avLst>
              <a:gd name="adj" fmla="val 50000"/>
            </a:avLst>
          </a:prstGeom>
          <a:solidFill>
            <a:srgbClr val="FFFFFF"/>
          </a:solidFill>
          <a:ln w="1651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sp>
        <p:nvSpPr>
          <p:cNvPr id="64" name="Shape 44"/>
          <p:cNvSpPr/>
          <p:nvPr/>
        </p:nvSpPr>
        <p:spPr>
          <a:xfrm>
            <a:off x="7626096" y="4242816"/>
            <a:ext cx="365760" cy="365760"/>
          </a:xfrm>
          <a:prstGeom prst="oval">
            <a:avLst/>
          </a:prstGeom>
          <a:solidFill>
            <a:srgbClr val="FAF8F4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25400" dir="5400000">
              <a:srgbClr val="A8A29E">
                <a:alpha val="22000"/>
              </a:srgbClr>
            </a:outerShdw>
          </a:effectLst>
        </p:spPr>
      </p:sp>
      <p:pic>
        <p:nvPicPr>
          <p:cNvPr id="6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24851" y="4341571"/>
            <a:ext cx="168250" cy="168250"/>
          </a:xfrm>
          <a:prstGeom prst="rect">
            <a:avLst/>
          </a:prstGeom>
        </p:spPr>
      </p:pic>
      <p:sp>
        <p:nvSpPr>
          <p:cNvPr id="66" name="Text 45"/>
          <p:cNvSpPr/>
          <p:nvPr/>
        </p:nvSpPr>
        <p:spPr>
          <a:xfrm>
            <a:off x="8010144" y="411480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7" name="Text 46"/>
          <p:cNvSpPr/>
          <p:nvPr/>
        </p:nvSpPr>
        <p:spPr>
          <a:xfrm>
            <a:off x="64008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feeds back to Think. The loop repeats until the agent is done, then it answers.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2026-06-23T10:26:33Z</dcterms:created>
  <dcterms:modified xsi:type="dcterms:W3CDTF">2026-06-23T10:26:33Z</dcterms:modified>
</cp:coreProperties>
</file>